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8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8737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0579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Выпускная квалификационная работа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43B67"/>
                </a:solidFill>
              </a:rPr>
              <a:t>Информационная система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243B67"/>
                </a:solidFill>
              </a:rPr>
              <a:t>управления микроскладом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85292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Мобильное клиент-серверное приложение для адресного хранения, учёта остатков и базовых складских операций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3232" y="3703320"/>
            <a:ext cx="4114800" cy="0"/>
          </a:xfrm>
          <a:prstGeom prst="line">
            <a:avLst/>
          </a:prstGeom>
          <a:noFill/>
          <a:ln w="38100">
            <a:solidFill>
              <a:srgbClr val="536D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4096512"/>
            <a:ext cx="512064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Выполнил: Безбородов Егор Юрьевич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Группа ИСТбд-41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Руководитель: Новиков А.А.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Ульяновск, 2026</a:t>
            </a:r>
            <a:endParaRPr lang="en-US" sz="13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9825478-07D9-A0F1-7C04-E5499ABA1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824" y="0"/>
            <a:ext cx="32420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B67"/>
                </a:solidFill>
              </a:rPr>
              <a:t>Актуальность разработки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694944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Почему микроскладу нужен отдельный инструмент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D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8F9E"/>
                </a:solidFill>
              </a:rPr>
              <a:t>Ульяновский государственный технический университет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F9E"/>
                </a:solidFill>
              </a:rPr>
              <a:t>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9C6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472184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3B67"/>
                </a:solidFill>
              </a:rPr>
              <a:t>Ручной учёт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0392" y="1828800"/>
            <a:ext cx="309981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Таблицы, заметки и мессенджеры быстро приводят к расхождениям в остатках и потерям информации.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132588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9C6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472184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3B67"/>
                </a:solidFill>
              </a:rPr>
              <a:t>Сложность поиска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9432" y="1828800"/>
            <a:ext cx="309981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Товар может быть на складе физически, но его сложно найти без адресной структуры хранения.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83880" y="132588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9C6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472184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3B67"/>
                </a:solidFill>
              </a:rPr>
              <a:t>Избыточность ERP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48472" y="1828800"/>
            <a:ext cx="309981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Крупные системы закрывают продажи, финансы и регуляторику, но сложны для маленького склада.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3B67"/>
                </a:solidFill>
              </a:rPr>
              <a:t>Целевая ниша проекта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3611880"/>
            <a:ext cx="539496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1F2937"/>
                </a:solidFill>
              </a:rPr>
              <a:t>малый бизнес, мастерские, сервисные организации;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склады расходников, небольшие магазины, домашние склады;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сценарии, где важны простота запуска и быстрый доступ к остаткам.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629400" y="3337560"/>
            <a:ext cx="914400" cy="1097280"/>
          </a:xfrm>
          <a:prstGeom prst="chevron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09560" y="3063240"/>
            <a:ext cx="3337560" cy="1645920"/>
          </a:xfrm>
          <a:prstGeom prst="roundRect">
            <a:avLst>
              <a:gd name="adj" fmla="val 4444"/>
            </a:avLst>
          </a:prstGeom>
          <a:solidFill>
            <a:srgbClr val="EDEBFF"/>
          </a:solidFill>
          <a:ln w="10160">
            <a:solidFill>
              <a:srgbClr val="C9C6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74152" y="3209544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3B67"/>
                </a:solidFill>
              </a:rPr>
              <a:t>Решение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74152" y="3566160"/>
            <a:ext cx="3008376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Лёгкая WMS-система для микросклада: склад → зоны → ячейки, товары, остатки, операции и журнал действий.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B67"/>
                </a:solidFill>
              </a:rPr>
              <a:t>Цель и задачи работы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D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8F9E"/>
                </a:solidFill>
              </a:rPr>
              <a:t>Ульяновский государственный технический университет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F9E"/>
                </a:solidFill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3B67"/>
                </a:solidFill>
              </a:rPr>
              <a:t>Цель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Разработать информационную систему управления микроскладом, которая позволит быстро создать структуру хранения, учитывать товары и остатки, а также выполнять базовые складские операции через мобильное приложение.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3B67"/>
                </a:solidFill>
              </a:rPr>
              <a:t>Задачи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987552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1F2937"/>
                </a:solidFill>
              </a:rPr>
              <a:t>проанализировать предметную область и аналогичные решения;</a:t>
            </a:r>
            <a:endParaRPr lang="en-US" sz="1500" dirty="0"/>
          </a:p>
          <a:p>
            <a:r>
              <a:rPr lang="en-US" sz="1500" dirty="0" err="1">
                <a:solidFill>
                  <a:srgbClr val="1F2937"/>
                </a:solidFill>
              </a:rPr>
              <a:t>спроектировать</a:t>
            </a:r>
            <a:r>
              <a:rPr lang="en-US" sz="1500" dirty="0">
                <a:solidFill>
                  <a:srgbClr val="1F2937"/>
                </a:solidFill>
              </a:rPr>
              <a:t> клиент-серверную архитектуру и модель данных;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реализовать серверную часть, </a:t>
            </a:r>
            <a:r>
              <a:rPr lang="en-US" sz="1500" dirty="0" err="1">
                <a:solidFill>
                  <a:srgbClr val="1F2937"/>
                </a:solidFill>
              </a:rPr>
              <a:t>мобильный</a:t>
            </a:r>
            <a:r>
              <a:rPr lang="en-US" sz="1500" dirty="0">
                <a:solidFill>
                  <a:srgbClr val="1F2937"/>
                </a:solidFill>
              </a:rPr>
              <a:t> </a:t>
            </a:r>
            <a:r>
              <a:rPr lang="en-US" sz="1500" dirty="0" err="1">
                <a:solidFill>
                  <a:srgbClr val="1F2937"/>
                </a:solidFill>
              </a:rPr>
              <a:t>клиент</a:t>
            </a:r>
            <a:r>
              <a:rPr lang="en-US" sz="1500" dirty="0">
                <a:solidFill>
                  <a:srgbClr val="1F2937"/>
                </a:solidFill>
              </a:rPr>
              <a:t>, </a:t>
            </a:r>
            <a:r>
              <a:rPr lang="ru-RU" sz="1500" dirty="0">
                <a:solidFill>
                  <a:srgbClr val="1F2937"/>
                </a:solidFill>
              </a:rPr>
              <a:t>базу данных</a:t>
            </a:r>
            <a:r>
              <a:rPr lang="en-US" sz="1500" dirty="0">
                <a:solidFill>
                  <a:srgbClr val="1F2937"/>
                </a:solidFill>
              </a:rPr>
              <a:t>;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обеспечить выполнение операций приёмки, перемещения, списания и журналирование действий.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B67"/>
                </a:solidFill>
              </a:rPr>
              <a:t>Анализ аналогичных решений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694944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Проект занимает нишу между ERP/WMS и простыми inventory-приложениями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D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8F9E"/>
                </a:solidFill>
              </a:rPr>
              <a:t>Ульяновский государственный технический университет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F9E"/>
                </a:solidFill>
              </a:rPr>
              <a:t>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2057400" cy="411480"/>
          </a:xfrm>
          <a:prstGeom prst="rect">
            <a:avLst/>
          </a:prstGeom>
          <a:solidFill>
            <a:srgbClr val="EEF2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53312"/>
            <a:ext cx="1965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43B67"/>
                </a:solidFill>
              </a:rPr>
              <a:t>Критерий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97480" y="1234440"/>
            <a:ext cx="1325880" cy="411480"/>
          </a:xfrm>
          <a:prstGeom prst="rect">
            <a:avLst/>
          </a:prstGeom>
          <a:solidFill>
            <a:srgbClr val="EDEB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353312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43B67"/>
                </a:solidFill>
              </a:rPr>
              <a:t>MicroMax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60520" y="1234440"/>
            <a:ext cx="1417320" cy="411480"/>
          </a:xfrm>
          <a:prstGeom prst="rect">
            <a:avLst/>
          </a:prstGeom>
          <a:solidFill>
            <a:srgbClr val="EEF2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353312"/>
            <a:ext cx="1325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43B67"/>
                </a:solidFill>
              </a:rPr>
              <a:t>МойСклад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760720" y="1234440"/>
            <a:ext cx="2606040" cy="411480"/>
          </a:xfrm>
          <a:prstGeom prst="rect">
            <a:avLst/>
          </a:prstGeom>
          <a:solidFill>
            <a:srgbClr val="EEF2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1353312"/>
            <a:ext cx="2514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43B67"/>
                </a:solidFill>
              </a:rPr>
              <a:t>Sortly / BoxHero / inFlow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549640" y="1234440"/>
            <a:ext cx="2834640" cy="411480"/>
          </a:xfrm>
          <a:prstGeom prst="rect">
            <a:avLst/>
          </a:prstGeom>
          <a:solidFill>
            <a:srgbClr val="EEF2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1353312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43B67"/>
                </a:solidFill>
              </a:rPr>
              <a:t>Домашние inventory apps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1664208"/>
            <a:ext cx="20574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792224"/>
            <a:ext cx="1965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F2937"/>
                </a:solidFill>
              </a:rPr>
              <a:t>Фокус на микроскладе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2697480" y="1664208"/>
            <a:ext cx="1325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1792224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Да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4160520" y="1664208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1792224"/>
            <a:ext cx="1325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Частично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5760720" y="1664208"/>
            <a:ext cx="26060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1792224"/>
            <a:ext cx="2514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Частично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8549640" y="1664208"/>
            <a:ext cx="2834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0" y="1792224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Да, но бытовой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502920" y="2103120"/>
            <a:ext cx="20574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2231136"/>
            <a:ext cx="1965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F2937"/>
                </a:solidFill>
              </a:rPr>
              <a:t>Адресное хранение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2697480" y="2103120"/>
            <a:ext cx="1325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0" y="2231136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Да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4160520" y="2103120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0" y="2231136"/>
            <a:ext cx="1325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Да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5760720" y="2103120"/>
            <a:ext cx="26060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2231136"/>
            <a:ext cx="2514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Частично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8549640" y="2103120"/>
            <a:ext cx="2834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95360" y="2231136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Ограниченно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502920" y="2542032"/>
            <a:ext cx="20574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2670048"/>
            <a:ext cx="1965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F2937"/>
                </a:solidFill>
              </a:rPr>
              <a:t>Операции WMS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2697480" y="2542032"/>
            <a:ext cx="1325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0" y="2670048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Да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4160520" y="2542032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06240" y="2670048"/>
            <a:ext cx="1325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Да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5760720" y="2542032"/>
            <a:ext cx="26060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06440" y="2670048"/>
            <a:ext cx="2514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Частично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8549640" y="2542032"/>
            <a:ext cx="2834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95360" y="2670048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Нет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502920" y="2980944"/>
            <a:ext cx="20574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3108960"/>
            <a:ext cx="1965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F2937"/>
                </a:solidFill>
              </a:rPr>
              <a:t>Быстрый старт по шаблонам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2697480" y="2980944"/>
            <a:ext cx="1325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50" name="Text 48"/>
          <p:cNvSpPr/>
          <p:nvPr/>
        </p:nvSpPr>
        <p:spPr>
          <a:xfrm>
            <a:off x="2743200" y="3108960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sz="820" dirty="0">
                <a:solidFill>
                  <a:srgbClr val="1F2937"/>
                </a:solidFill>
              </a:rPr>
              <a:t>Да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4160520" y="2980944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06240" y="3108960"/>
            <a:ext cx="1325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Ограниченно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5760720" y="2980944"/>
            <a:ext cx="26060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06440" y="3108960"/>
            <a:ext cx="2514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Ограниченно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8549640" y="2980944"/>
            <a:ext cx="2834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95360" y="3108960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Частично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502920" y="3419856"/>
            <a:ext cx="20574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3547872"/>
            <a:ext cx="1965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F2937"/>
                </a:solidFill>
              </a:rPr>
              <a:t>Командный интерфейс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2697480" y="3419856"/>
            <a:ext cx="1325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0" y="3547872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sz="820" dirty="0">
                <a:solidFill>
                  <a:srgbClr val="1F2937"/>
                </a:solidFill>
              </a:rPr>
              <a:t>Да</a:t>
            </a:r>
            <a:endParaRPr lang="en-US" sz="820" dirty="0"/>
          </a:p>
        </p:txBody>
      </p:sp>
      <p:sp>
        <p:nvSpPr>
          <p:cNvPr id="61" name="Shape 59"/>
          <p:cNvSpPr/>
          <p:nvPr/>
        </p:nvSpPr>
        <p:spPr>
          <a:xfrm>
            <a:off x="4160520" y="3419856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206240" y="3547872"/>
            <a:ext cx="1325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Нет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5760720" y="3419856"/>
            <a:ext cx="26060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806440" y="3547872"/>
            <a:ext cx="2514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Редко</a:t>
            </a:r>
            <a:endParaRPr lang="en-US" sz="820" dirty="0"/>
          </a:p>
        </p:txBody>
      </p:sp>
      <p:sp>
        <p:nvSpPr>
          <p:cNvPr id="65" name="Shape 63"/>
          <p:cNvSpPr/>
          <p:nvPr/>
        </p:nvSpPr>
        <p:spPr>
          <a:xfrm>
            <a:off x="8549640" y="3419856"/>
            <a:ext cx="2834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595360" y="3547872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Нет</a:t>
            </a:r>
            <a:endParaRPr lang="en-US" sz="820" dirty="0"/>
          </a:p>
        </p:txBody>
      </p:sp>
      <p:sp>
        <p:nvSpPr>
          <p:cNvPr id="67" name="Shape 65"/>
          <p:cNvSpPr/>
          <p:nvPr/>
        </p:nvSpPr>
        <p:spPr>
          <a:xfrm>
            <a:off x="914400" y="4709160"/>
            <a:ext cx="1033272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0160">
            <a:solidFill>
              <a:srgbClr val="C7D2F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188720" y="4919472"/>
            <a:ext cx="9829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3B67"/>
                </a:solidFill>
              </a:rPr>
              <a:t>Вывод: прямых аналогов с сочетанием «микросклад + быстрый запуск + командный интерфейс» выражено мало. </a:t>
            </a:r>
            <a:r>
              <a:rPr lang="en-US" sz="1400" b="1" dirty="0" err="1">
                <a:solidFill>
                  <a:srgbClr val="243B67"/>
                </a:solidFill>
              </a:rPr>
              <a:t>Конкурировать</a:t>
            </a:r>
            <a:r>
              <a:rPr lang="en-US" sz="1400" b="1" dirty="0">
                <a:solidFill>
                  <a:srgbClr val="243B67"/>
                </a:solidFill>
              </a:rPr>
              <a:t> </a:t>
            </a:r>
            <a:r>
              <a:rPr lang="en-US" sz="1400" b="1" dirty="0" err="1">
                <a:solidFill>
                  <a:srgbClr val="243B67"/>
                </a:solidFill>
              </a:rPr>
              <a:t>не</a:t>
            </a:r>
            <a:r>
              <a:rPr lang="en-US" sz="1400" b="1" dirty="0">
                <a:solidFill>
                  <a:srgbClr val="243B67"/>
                </a:solidFill>
              </a:rPr>
              <a:t> широтой функций, а простотой и узким сценарием.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B67"/>
                </a:solidFill>
              </a:rPr>
              <a:t>Архитектура системы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694944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Клиент-серверный подход с центральной бизнес-логикой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D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8F9E"/>
                </a:solidFill>
              </a:rPr>
              <a:t>Ульяновский государственный технический университет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F9E"/>
                </a:solidFill>
              </a:rPr>
              <a:t>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9C6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655064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3B67"/>
                </a:solidFill>
              </a:rPr>
              <a:t>Android-приложение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011680"/>
            <a:ext cx="22311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Kotlin, Jetpack Compose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операции рядом со складом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03320" y="150876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EEF2FF"/>
          </a:solidFill>
          <a:ln w="10160">
            <a:solidFill>
              <a:srgbClr val="C9C6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67912" y="165506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3B67"/>
                </a:solidFill>
              </a:rPr>
              <a:t>REST API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67912" y="2011680"/>
            <a:ext cx="186537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HTTP/JSON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единый контракт клиента и сервера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50876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9C6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1655064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3B67"/>
                </a:solidFill>
              </a:rPr>
              <a:t>Сервер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65392" y="2011680"/>
            <a:ext cx="20025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ASP.NET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права, проверки, бизнес-правила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44000" y="150876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9C6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08592" y="1655064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3B67"/>
                </a:solidFill>
              </a:rPr>
              <a:t>База данных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08592" y="2011680"/>
            <a:ext cx="20025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PostgreSQL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пользователи, товары, остатки, журнал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56432" y="2148840"/>
            <a:ext cx="320040" cy="0"/>
          </a:xfrm>
          <a:prstGeom prst="line">
            <a:avLst/>
          </a:prstGeom>
          <a:noFill/>
          <a:ln w="25400">
            <a:solidFill>
              <a:srgbClr val="536DF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89904" y="2148840"/>
            <a:ext cx="320040" cy="0"/>
          </a:xfrm>
          <a:prstGeom prst="line">
            <a:avLst/>
          </a:prstGeom>
          <a:noFill/>
          <a:ln w="25400">
            <a:solidFill>
              <a:srgbClr val="536DF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796528" y="2148840"/>
            <a:ext cx="320040" cy="0"/>
          </a:xfrm>
          <a:prstGeom prst="line">
            <a:avLst/>
          </a:prstGeom>
          <a:noFill/>
          <a:ln w="25400">
            <a:solidFill>
              <a:srgbClr val="536DFE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2296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3B67"/>
                </a:solidFill>
              </a:rPr>
              <a:t>Почему так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60120" y="4069080"/>
            <a:ext cx="987552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50" dirty="0">
                <a:solidFill>
                  <a:srgbClr val="1F2937"/>
                </a:solidFill>
              </a:rPr>
              <a:t>данные склада не зависят от конкретного телефона;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</a:rPr>
              <a:t>проверки операций выполняются на сервере;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</a:rPr>
              <a:t>несколько пользователей видят единое состояние склада;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</a:rPr>
              <a:t>архитектура позволяет </a:t>
            </a:r>
            <a:r>
              <a:rPr lang="en-US" sz="1450" dirty="0" err="1">
                <a:solidFill>
                  <a:srgbClr val="1F2937"/>
                </a:solidFill>
              </a:rPr>
              <a:t>добавить</a:t>
            </a:r>
            <a:r>
              <a:rPr lang="en-US" sz="1450" dirty="0">
                <a:solidFill>
                  <a:srgbClr val="1F2937"/>
                </a:solidFill>
              </a:rPr>
              <a:t> </a:t>
            </a:r>
            <a:r>
              <a:rPr lang="en-US" sz="1450" dirty="0" err="1">
                <a:solidFill>
                  <a:srgbClr val="1F2937"/>
                </a:solidFill>
              </a:rPr>
              <a:t>админ-панел</a:t>
            </a:r>
            <a:r>
              <a:rPr lang="ru-RU" sz="1450" dirty="0">
                <a:solidFill>
                  <a:srgbClr val="1F2937"/>
                </a:solidFill>
              </a:rPr>
              <a:t>ь</a:t>
            </a:r>
            <a:r>
              <a:rPr lang="en-US" sz="1450" dirty="0">
                <a:solidFill>
                  <a:srgbClr val="1F2937"/>
                </a:solidFill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B67"/>
                </a:solidFill>
              </a:rPr>
              <a:t>Основной процесс работы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694944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Пользователь выполняет операцию, сервер проверяет и фиксирует результат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D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8F9E"/>
                </a:solidFill>
              </a:rPr>
              <a:t>Ульяновский государственный технический университет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F9E"/>
                </a:solidFill>
              </a:rPr>
              <a:t>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067678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1430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9569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36DFE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47001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3B67"/>
                </a:solidFill>
              </a:rPr>
              <a:t>Авторизация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38528" y="1296278"/>
            <a:ext cx="182880" cy="310896"/>
          </a:xfrm>
          <a:prstGeom prst="chevron">
            <a:avLst/>
          </a:prstGeom>
          <a:solidFill>
            <a:srgbClr val="D9DCE8"/>
          </a:solidFill>
          <a:ln w="12700">
            <a:solidFill>
              <a:srgbClr val="D9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21408" y="1067678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1430">
            <a:solidFill>
              <a:srgbClr val="C7D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12848" y="119569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36DFE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12848" y="147001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3B67"/>
                </a:solidFill>
              </a:rPr>
              <a:t>Открытие склада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57016" y="1296278"/>
            <a:ext cx="182880" cy="310896"/>
          </a:xfrm>
          <a:prstGeom prst="chevron">
            <a:avLst/>
          </a:prstGeom>
          <a:solidFill>
            <a:srgbClr val="D9DCE8"/>
          </a:solidFill>
          <a:ln w="12700">
            <a:solidFill>
              <a:srgbClr val="D9DC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39896" y="1067678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1430">
            <a:solidFill>
              <a:srgbClr val="C7D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31336" y="119569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36DFE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31336" y="147001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3B67"/>
                </a:solidFill>
              </a:rPr>
              <a:t>Поиск товара / ячейки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175504" y="1296278"/>
            <a:ext cx="182880" cy="310896"/>
          </a:xfrm>
          <a:prstGeom prst="chevron">
            <a:avLst/>
          </a:prstGeom>
          <a:solidFill>
            <a:srgbClr val="D9DCE8"/>
          </a:solidFill>
          <a:ln w="12700">
            <a:solidFill>
              <a:srgbClr val="D9D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58384" y="1067678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1430">
            <a:solidFill>
              <a:srgbClr val="C7D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9824" y="119569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36DFE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49824" y="147001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3B67"/>
                </a:solidFill>
              </a:rPr>
              <a:t>Формирование операции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93992" y="1296278"/>
            <a:ext cx="182880" cy="310896"/>
          </a:xfrm>
          <a:prstGeom prst="chevron">
            <a:avLst/>
          </a:prstGeom>
          <a:solidFill>
            <a:srgbClr val="D9DCE8"/>
          </a:solidFill>
          <a:ln w="12700">
            <a:solidFill>
              <a:srgbClr val="D9DC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76872" y="1067678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EEF2FF"/>
          </a:solidFill>
          <a:ln w="11430">
            <a:solidFill>
              <a:srgbClr val="C7D2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68312" y="119569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36DFE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68312" y="147001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3B67"/>
                </a:solidFill>
              </a:rPr>
              <a:t>Проверка корректности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412480" y="1296278"/>
            <a:ext cx="182880" cy="310896"/>
          </a:xfrm>
          <a:prstGeom prst="chevron">
            <a:avLst/>
          </a:prstGeom>
          <a:solidFill>
            <a:srgbClr val="D9DCE8"/>
          </a:solidFill>
          <a:ln w="12700">
            <a:solidFill>
              <a:srgbClr val="D9DC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0" y="1067678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EEF2FF"/>
          </a:solidFill>
          <a:ln w="11430">
            <a:solidFill>
              <a:srgbClr val="C7D2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0" y="119569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36DFE"/>
                </a:solidFill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0" y="147001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3B67"/>
                </a:solidFill>
              </a:rPr>
              <a:t>Обновление остатков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030968" y="1296278"/>
            <a:ext cx="182880" cy="310896"/>
          </a:xfrm>
          <a:prstGeom prst="chevron">
            <a:avLst/>
          </a:prstGeom>
          <a:solidFill>
            <a:srgbClr val="D9DCE8"/>
          </a:solidFill>
          <a:ln w="12700">
            <a:solidFill>
              <a:srgbClr val="D9DC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213848" y="1067678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EEF2FF"/>
          </a:solidFill>
          <a:ln w="11430">
            <a:solidFill>
              <a:srgbClr val="C7D2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05288" y="119569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36DFE"/>
                </a:solidFill>
              </a:rPr>
              <a:t>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305288" y="147001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3B67"/>
                </a:solidFill>
              </a:rPr>
              <a:t>Журнал и результат</a:t>
            </a:r>
            <a:endParaRPr lang="en-US" sz="950" dirty="0"/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7B998D6C-A3BB-15C3-CAC1-01A08B655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131723"/>
            <a:ext cx="7546126" cy="41684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11">
            <a:extLst>
              <a:ext uri="{FF2B5EF4-FFF2-40B4-BE49-F238E27FC236}">
                <a16:creationId xmlns:a16="http://schemas.microsoft.com/office/drawing/2014/main" id="{F8DADBD3-8C43-9F8B-8507-F617D24C42AB}"/>
              </a:ext>
            </a:extLst>
          </p:cNvPr>
          <p:cNvSpPr/>
          <p:nvPr/>
        </p:nvSpPr>
        <p:spPr>
          <a:xfrm>
            <a:off x="9112718" y="3429000"/>
            <a:ext cx="2775081" cy="1149016"/>
          </a:xfrm>
          <a:prstGeom prst="roundRect">
            <a:avLst>
              <a:gd name="adj" fmla="val 7619"/>
            </a:avLst>
          </a:prstGeom>
          <a:solidFill>
            <a:srgbClr val="EDEBFF"/>
          </a:solidFill>
          <a:ln w="10160">
            <a:solidFill>
              <a:srgbClr val="C9C6F7"/>
            </a:solidFill>
            <a:prstDash val="solid"/>
          </a:ln>
        </p:spPr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B19CB41D-9163-47DF-E219-2B05897FCAF5}"/>
              </a:ext>
            </a:extLst>
          </p:cNvPr>
          <p:cNvSpPr/>
          <p:nvPr/>
        </p:nvSpPr>
        <p:spPr>
          <a:xfrm>
            <a:off x="9052560" y="1361247"/>
            <a:ext cx="2835240" cy="1258508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C9C6F7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8981574" y="292608"/>
            <a:ext cx="30319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B67"/>
                </a:solidFill>
              </a:rPr>
              <a:t>Модель данных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981574" y="694944"/>
            <a:ext cx="29116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База отражает структуру хранения и историю действий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 flipV="1">
            <a:off x="8981574" y="1056372"/>
            <a:ext cx="2911642" cy="9144"/>
          </a:xfrm>
          <a:prstGeom prst="line">
            <a:avLst/>
          </a:prstGeom>
          <a:noFill/>
          <a:ln w="12700">
            <a:solidFill>
              <a:srgbClr val="D9D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7846" y="6483096"/>
            <a:ext cx="24207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8F9E"/>
                </a:solidFill>
              </a:rPr>
              <a:t>Ульяновский государственный технический университет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F9E"/>
                </a:solidFill>
              </a:rPr>
              <a:t>8</a:t>
            </a:r>
            <a:endParaRPr lang="en-US" sz="800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0DE75C06-88A8-D2E6-3B44-07EDB474B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8937499" cy="68580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D77F305-9BCE-67AF-3EAE-1626C5D0A242}"/>
              </a:ext>
            </a:extLst>
          </p:cNvPr>
          <p:cNvSpPr txBox="1"/>
          <p:nvPr/>
        </p:nvSpPr>
        <p:spPr>
          <a:xfrm>
            <a:off x="9112719" y="1492047"/>
            <a:ext cx="27804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Модель данных построена вокруг адресного хранения: товар учитывается не только по количеству, но и по конкретному месту размещения.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869D99-BEBE-5243-DF69-E168D4961CDA}"/>
              </a:ext>
            </a:extLst>
          </p:cNvPr>
          <p:cNvSpPr txBox="1"/>
          <p:nvPr/>
        </p:nvSpPr>
        <p:spPr>
          <a:xfrm>
            <a:off x="9237846" y="3577218"/>
            <a:ext cx="25895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Главная идея модели: связать товар, ячейку, остаток и операцию в единую прослеживаемую цепочку.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B67"/>
                </a:solidFill>
              </a:rPr>
              <a:t>Модуль складских операций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694944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Остатки изменяются только через контролируемые операции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D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8F9E"/>
                </a:solidFill>
              </a:rPr>
              <a:t>Ульяновский государственный технический университет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F9E"/>
                </a:solidFill>
              </a:rPr>
              <a:t>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12344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EDEBFF"/>
          </a:solidFill>
          <a:ln w="10160">
            <a:solidFill>
              <a:srgbClr val="C9C6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380744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3B67"/>
                </a:solidFill>
              </a:rPr>
              <a:t>Приёмка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1737360"/>
            <a:ext cx="200253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увеличение остатка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66160" y="12344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C9C6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1380744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3B67"/>
                </a:solidFill>
              </a:rPr>
              <a:t>Размещение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30752" y="1737360"/>
            <a:ext cx="200253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привязка к ячейке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55080" y="12344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EDEBFF"/>
          </a:solidFill>
          <a:ln w="10160">
            <a:solidFill>
              <a:srgbClr val="C9C6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1380744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3B67"/>
                </a:solidFill>
              </a:rPr>
              <a:t>Перемещение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9672" y="1737360"/>
            <a:ext cx="200253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исходная → целевая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44000" y="12344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C9C6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08592" y="1380744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3B67"/>
                </a:solidFill>
              </a:rPr>
              <a:t>Списание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08592" y="1737360"/>
            <a:ext cx="200253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уменьшение остатка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28346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3B67"/>
                </a:solidFill>
              </a:rPr>
              <a:t>Проверки перед применением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3255264"/>
            <a:ext cx="52120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50" dirty="0">
                <a:solidFill>
                  <a:srgbClr val="1F2937"/>
                </a:solidFill>
              </a:rPr>
              <a:t>права пользователя на выполнение операции;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</a:rPr>
              <a:t>существование товара, исходной и целевой ячейки;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</a:rPr>
              <a:t>достаточность остатка при списании и перемещении;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</a:rPr>
              <a:t>атомарное обновление остатков и создание записи в журнале.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629400" y="2880360"/>
            <a:ext cx="43891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31272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B67"/>
                </a:solidFill>
              </a:rPr>
              <a:t>Пример операции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03720" y="35478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Переместить 3 шт. товара X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из ячейки A-1 в B-2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95160" y="4133088"/>
            <a:ext cx="3657600" cy="0"/>
          </a:xfrm>
          <a:prstGeom prst="line">
            <a:avLst/>
          </a:prstGeom>
          <a:noFill/>
          <a:ln w="25400">
            <a:solidFill>
              <a:srgbClr val="536DFE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995160" y="427024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</a:rPr>
              <a:t>проверка → изменение Stock → запись Operation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B67"/>
                </a:solidFill>
              </a:rPr>
              <a:t>Пользовательский интерфейс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694944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Мобильный сценарий: работа рядом с местом хранения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D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8F9E"/>
                </a:solidFill>
              </a:rPr>
              <a:t>Ульяновский государственный технический университет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F9E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827921" y="1312165"/>
            <a:ext cx="53640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3B67"/>
                </a:solidFill>
              </a:rPr>
              <a:t>Ключевые экраны и действия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995160" y="1792223"/>
            <a:ext cx="5093208" cy="213969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1F2937"/>
                </a:solidFill>
              </a:rPr>
              <a:t>главный экран с быстрым доступом к товарам, транзакциям и </a:t>
            </a:r>
            <a:r>
              <a:rPr lang="en-US" sz="1500" dirty="0" err="1">
                <a:solidFill>
                  <a:srgbClr val="1F2937"/>
                </a:solidFill>
              </a:rPr>
              <a:t>настройкам</a:t>
            </a:r>
            <a:r>
              <a:rPr lang="en-US" sz="1500" dirty="0">
                <a:solidFill>
                  <a:srgbClr val="1F2937"/>
                </a:solidFill>
              </a:rPr>
              <a:t>;</a:t>
            </a:r>
          </a:p>
          <a:p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поиск товара и переход к карточке по QR/</a:t>
            </a:r>
            <a:r>
              <a:rPr lang="en-US" sz="1500" dirty="0" err="1">
                <a:solidFill>
                  <a:srgbClr val="1F2937"/>
                </a:solidFill>
              </a:rPr>
              <a:t>штрихкоду</a:t>
            </a:r>
            <a:r>
              <a:rPr lang="en-US" sz="1500" dirty="0">
                <a:solidFill>
                  <a:srgbClr val="1F2937"/>
                </a:solidFill>
              </a:rPr>
              <a:t>;</a:t>
            </a:r>
          </a:p>
          <a:p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формы операций: приёмка, перемещение, списание;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экран команды и </a:t>
            </a:r>
            <a:r>
              <a:rPr lang="en-US" sz="1500" dirty="0" err="1">
                <a:solidFill>
                  <a:srgbClr val="1F2937"/>
                </a:solidFill>
              </a:rPr>
              <a:t>ролей</a:t>
            </a:r>
            <a:r>
              <a:rPr lang="en-US" sz="1500" dirty="0">
                <a:solidFill>
                  <a:srgbClr val="1F2937"/>
                </a:solidFill>
              </a:rPr>
              <a:t>;</a:t>
            </a:r>
          </a:p>
          <a:p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журнал транзакций и просмотр нехватки запасов.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553064" y="4553953"/>
            <a:ext cx="3675647" cy="118511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0160">
            <a:solidFill>
              <a:srgbClr val="C7D2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 rot="10800000" flipV="1">
            <a:off x="7862636" y="4698332"/>
            <a:ext cx="3200401" cy="8475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43B67"/>
                </a:solidFill>
              </a:rPr>
              <a:t>UX-принцип: пользователь должен выполнить типовую складскую операцию без длинной цепочки экранов и с понятным подтверждением результата.</a:t>
            </a:r>
            <a:endParaRPr lang="en-US" sz="135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A824BEA-267B-A405-0434-C37A5A72C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064" y="1091623"/>
            <a:ext cx="2512413" cy="5253227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0A2509A-947F-D8A4-EE73-8F22BDF90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47" y="1091623"/>
            <a:ext cx="2475905" cy="52532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B67"/>
                </a:solidFill>
              </a:rPr>
              <a:t>Пользовательский интерфейс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694944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u-RU" sz="1050" dirty="0">
                <a:solidFill>
                  <a:srgbClr val="6B7280"/>
                </a:solidFill>
              </a:rPr>
              <a:t>Веб-интерфейс управления </a:t>
            </a:r>
            <a:r>
              <a:rPr lang="ru-RU" sz="1050" dirty="0" err="1">
                <a:solidFill>
                  <a:srgbClr val="6B7280"/>
                </a:solidFill>
              </a:rPr>
              <a:t>микроскладом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D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8F9E"/>
                </a:solidFill>
              </a:rPr>
              <a:t>Ульяновский государственный технический университет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F9E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827921" y="1312165"/>
            <a:ext cx="53640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3B67"/>
                </a:solidFill>
              </a:rPr>
              <a:t>Ключевые экраны и действия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963356" y="1792223"/>
            <a:ext cx="5093208" cy="316105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r>
              <a:rPr lang="ru-RU" sz="1500" dirty="0">
                <a:solidFill>
                  <a:srgbClr val="1F2937"/>
                </a:solidFill>
              </a:rPr>
              <a:t>главная панель администратора с текущим состоянием склада: количество зон, ячеек, товаров и позиций с остатками;</a:t>
            </a:r>
          </a:p>
          <a:p>
            <a:endParaRPr lang="ru-RU" sz="1500" dirty="0">
              <a:solidFill>
                <a:srgbClr val="1F2937"/>
              </a:solidFill>
            </a:endParaRPr>
          </a:p>
          <a:p>
            <a:r>
              <a:rPr lang="ru-RU" sz="1500" dirty="0">
                <a:solidFill>
                  <a:srgbClr val="1F2937"/>
                </a:solidFill>
              </a:rPr>
              <a:t>управление складской структурой: создание складов, зон хранения и ячеек;</a:t>
            </a:r>
          </a:p>
          <a:p>
            <a:endParaRPr lang="ru-RU" sz="1500" dirty="0">
              <a:solidFill>
                <a:srgbClr val="1F2937"/>
              </a:solidFill>
            </a:endParaRPr>
          </a:p>
          <a:p>
            <a:r>
              <a:rPr lang="ru-RU" sz="1500" dirty="0">
                <a:solidFill>
                  <a:srgbClr val="1F2937"/>
                </a:solidFill>
              </a:rPr>
              <a:t>работа с номенклатурой: добавление товаров, просмотр карточек и контроль минимальных остатков;</a:t>
            </a:r>
          </a:p>
          <a:p>
            <a:endParaRPr lang="ru-RU" sz="1500" dirty="0">
              <a:solidFill>
                <a:srgbClr val="1F2937"/>
              </a:solidFill>
            </a:endParaRPr>
          </a:p>
          <a:p>
            <a:r>
              <a:rPr lang="ru-RU" sz="1500" dirty="0">
                <a:solidFill>
                  <a:srgbClr val="1F2937"/>
                </a:solidFill>
              </a:rPr>
              <a:t>выполнение складских операций: приёмка, перемещение и списание товаров;</a:t>
            </a:r>
          </a:p>
          <a:p>
            <a:endParaRPr lang="ru-RU" sz="1500" dirty="0">
              <a:solidFill>
                <a:srgbClr val="1F2937"/>
              </a:solidFill>
            </a:endParaRPr>
          </a:p>
          <a:p>
            <a:r>
              <a:rPr lang="ru-RU" sz="1500" dirty="0">
                <a:solidFill>
                  <a:srgbClr val="1F2937"/>
                </a:solidFill>
              </a:rPr>
              <a:t>просмотр журнала операций для контроля изменений и действий пользователей.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553064" y="5146508"/>
            <a:ext cx="3675647" cy="118511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0160">
            <a:solidFill>
              <a:srgbClr val="C7D2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 rot="10800000" flipV="1">
            <a:off x="7862636" y="5290887"/>
            <a:ext cx="3200401" cy="8475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43B67"/>
                </a:solidFill>
              </a:rPr>
              <a:t>UX-</a:t>
            </a:r>
            <a:r>
              <a:rPr lang="en-US" sz="1350" b="1" dirty="0" err="1">
                <a:solidFill>
                  <a:srgbClr val="243B67"/>
                </a:solidFill>
              </a:rPr>
              <a:t>принцип</a:t>
            </a:r>
            <a:r>
              <a:rPr lang="en-US" sz="1350" b="1" dirty="0">
                <a:solidFill>
                  <a:srgbClr val="243B67"/>
                </a:solidFill>
              </a:rPr>
              <a:t>: </a:t>
            </a:r>
            <a:r>
              <a:rPr lang="ru-RU" sz="1350" b="1" dirty="0">
                <a:solidFill>
                  <a:srgbClr val="243B67"/>
                </a:solidFill>
              </a:rPr>
              <a:t>пользователь должен быстро перейти от состояния склада к нужному действию — без длинной цепочки экранов.</a:t>
            </a:r>
            <a:endParaRPr lang="en-US" sz="135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32E8123-D1C9-F0DC-9A5F-C0904207B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94" y="1458469"/>
            <a:ext cx="6331341" cy="448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457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B67"/>
                </a:solidFill>
              </a:rPr>
              <a:t>Принятые проектные решения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694944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Стек, безопасность и дальнейшее развитие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D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8F9E"/>
                </a:solidFill>
              </a:rPr>
              <a:t>Ульяновский государственный технический университет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F9E"/>
                </a:solidFill>
              </a:rPr>
              <a:t>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201168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353312"/>
            <a:ext cx="1865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243B67"/>
                </a:solidFill>
              </a:rPr>
              <a:t>Компонент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2743200" y="1234440"/>
            <a:ext cx="297180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16352" y="1353312"/>
            <a:ext cx="28254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243B67"/>
                </a:solidFill>
              </a:rPr>
              <a:t>Решение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5806440" y="1234440"/>
            <a:ext cx="571500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79592" y="1353312"/>
            <a:ext cx="55686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243B67"/>
                </a:solidFill>
              </a:rPr>
              <a:t>Назначение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85800" y="1655064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1773936"/>
            <a:ext cx="1865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Мобильный клиент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2743200" y="1655064"/>
            <a:ext cx="2971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16352" y="1773936"/>
            <a:ext cx="28254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Android, Kotlin, Jetpack Compose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806440" y="1655064"/>
            <a:ext cx="5715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9592" y="1773936"/>
            <a:ext cx="55686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операции и просмотр данных на складе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85800" y="2075688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2194560"/>
            <a:ext cx="1865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Сервер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2743200" y="2075688"/>
            <a:ext cx="2971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16352" y="2194560"/>
            <a:ext cx="28254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ASP.NET Core REST API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5806440" y="2075688"/>
            <a:ext cx="5715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79592" y="2194560"/>
            <a:ext cx="55686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бизнес-логика, авторизация, проверки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685800" y="2496312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2615184"/>
            <a:ext cx="1865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Основная БД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2743200" y="2496312"/>
            <a:ext cx="2971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16352" y="2615184"/>
            <a:ext cx="28254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PostgreSQL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5806440" y="2496312"/>
            <a:ext cx="5715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79592" y="2615184"/>
            <a:ext cx="55686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централизованное хранение данных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685800" y="2916936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35808"/>
            <a:ext cx="1865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Локальное хранилище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2743200" y="2916936"/>
            <a:ext cx="2971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16352" y="3035808"/>
            <a:ext cx="28254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SQLite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5806440" y="2916936"/>
            <a:ext cx="5715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79592" y="3035808"/>
            <a:ext cx="55686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кэш и основа оффлайн-режима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685800" y="3337560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" y="3456432"/>
            <a:ext cx="1865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Безопасность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2743200" y="3337560"/>
            <a:ext cx="2971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16352" y="3456432"/>
            <a:ext cx="28254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JWT, роли, серверные проверки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5806440" y="3337560"/>
            <a:ext cx="5715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79592" y="3456432"/>
            <a:ext cx="55686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контроль доступа и операций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868680" y="4434840"/>
            <a:ext cx="3154680" cy="960120"/>
          </a:xfrm>
          <a:prstGeom prst="roundRect">
            <a:avLst>
              <a:gd name="adj" fmla="val 7619"/>
            </a:avLst>
          </a:prstGeom>
          <a:solidFill>
            <a:srgbClr val="EDEBFF"/>
          </a:solidFill>
          <a:ln w="10160">
            <a:solidFill>
              <a:srgbClr val="C9C6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33272" y="4581144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3B67"/>
                </a:solidFill>
              </a:rPr>
              <a:t>Экономический эффект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033272" y="4937760"/>
            <a:ext cx="282549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сокращение времени поиска и уменьшение ошибок учёта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480560" y="4434840"/>
            <a:ext cx="3154680" cy="960120"/>
          </a:xfrm>
          <a:prstGeom prst="roundRect">
            <a:avLst>
              <a:gd name="adj" fmla="val 7619"/>
            </a:avLst>
          </a:prstGeom>
          <a:solidFill>
            <a:srgbClr val="EEF2FF"/>
          </a:solidFill>
          <a:ln w="10160">
            <a:solidFill>
              <a:srgbClr val="C9C6F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45152" y="4581144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3B67"/>
                </a:solidFill>
              </a:rPr>
              <a:t>Безопасность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645152" y="4937760"/>
            <a:ext cx="282549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подтверждение write-операций и журнал действий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092440" y="443484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C9C6F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57032" y="4581144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3B67"/>
                </a:solidFill>
              </a:rPr>
              <a:t>Развитие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257032" y="4937760"/>
            <a:ext cx="245973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админ-панель, штрихкоды, AI-команды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243B67"/>
                </a:solidFill>
              </a:rPr>
              <a:t>Результат</a:t>
            </a:r>
            <a:r>
              <a:rPr lang="ru-RU" sz="2500" b="1" dirty="0">
                <a:solidFill>
                  <a:srgbClr val="243B67"/>
                </a:solidFill>
              </a:rPr>
              <a:t>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D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8F9E"/>
                </a:solidFill>
              </a:rPr>
              <a:t>Ульяновский государственный технический университет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F9E"/>
                </a:solidFill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200" b="1" dirty="0">
                <a:solidFill>
                  <a:srgbClr val="243B67"/>
                </a:solidFill>
              </a:rPr>
              <a:t>Заключение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783079"/>
            <a:ext cx="10469880" cy="34085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r>
              <a:rPr lang="ru-RU" sz="1600" b="1" dirty="0"/>
              <a:t>Разработанная информационная система предназначена для автоматизации управления </a:t>
            </a:r>
            <a:r>
              <a:rPr lang="ru-RU" sz="1600" b="1" dirty="0" err="1"/>
              <a:t>микроскладом</a:t>
            </a:r>
            <a:r>
              <a:rPr lang="ru-RU" sz="1600" b="1" dirty="0"/>
              <a:t> и может обеспечить следующие практические результаты при внедрении:</a:t>
            </a:r>
            <a:endParaRPr lang="en-US" sz="1600" b="1" dirty="0"/>
          </a:p>
          <a:p>
            <a:endParaRPr lang="ru-RU" sz="1600" dirty="0"/>
          </a:p>
          <a:p>
            <a:pPr>
              <a:lnSpc>
                <a:spcPct val="150000"/>
              </a:lnSpc>
            </a:pPr>
            <a:r>
              <a:rPr lang="ru-RU" sz="1600" dirty="0"/>
              <a:t>снижение трудоёмкости складского учёта — товары, ячейки и остатки ведутся в единой системе;</a:t>
            </a:r>
            <a:endParaRPr lang="en-US" sz="1600" dirty="0"/>
          </a:p>
          <a:p>
            <a:pPr>
              <a:lnSpc>
                <a:spcPct val="150000"/>
              </a:lnSpc>
            </a:pPr>
            <a:endParaRPr lang="ru-RU" sz="1600" dirty="0"/>
          </a:p>
          <a:p>
            <a:pPr>
              <a:lnSpc>
                <a:spcPct val="150000"/>
              </a:lnSpc>
            </a:pPr>
            <a:r>
              <a:rPr lang="ru-RU" sz="1600" dirty="0"/>
              <a:t>повышение точности данных — операции фиксируются через складские сервисы и журнал действий;</a:t>
            </a:r>
            <a:endParaRPr lang="en-US" sz="1600" dirty="0"/>
          </a:p>
          <a:p>
            <a:pPr>
              <a:lnSpc>
                <a:spcPct val="150000"/>
              </a:lnSpc>
            </a:pPr>
            <a:endParaRPr lang="ru-RU" sz="1600" dirty="0"/>
          </a:p>
          <a:p>
            <a:pPr>
              <a:lnSpc>
                <a:spcPct val="150000"/>
              </a:lnSpc>
            </a:pPr>
            <a:r>
              <a:rPr lang="ru-RU" sz="1600" dirty="0"/>
              <a:t>ускорение поиска товаров — пользователь быстро определяет местоположение товара и содержимое ячейки;</a:t>
            </a:r>
            <a:endParaRPr lang="en-US" sz="1600" dirty="0"/>
          </a:p>
          <a:p>
            <a:pPr>
              <a:lnSpc>
                <a:spcPct val="150000"/>
              </a:lnSpc>
            </a:pPr>
            <a:endParaRPr lang="ru-RU" sz="1600" dirty="0"/>
          </a:p>
          <a:p>
            <a:pPr>
              <a:lnSpc>
                <a:spcPct val="150000"/>
              </a:lnSpc>
            </a:pPr>
            <a:r>
              <a:rPr lang="ru-RU" sz="1600" dirty="0"/>
              <a:t>упрощение работы </a:t>
            </a:r>
            <a:r>
              <a:rPr lang="ru-RU" sz="1600" dirty="0" err="1"/>
              <a:t>микросклада</a:t>
            </a:r>
            <a:r>
              <a:rPr lang="ru-RU" sz="1600" dirty="0"/>
              <a:t> — мобильное приложение, QR-коды и командный интерфейс снижают порог входа.</a:t>
            </a:r>
          </a:p>
        </p:txBody>
      </p:sp>
      <p:sp>
        <p:nvSpPr>
          <p:cNvPr id="12" name="Text 10"/>
          <p:cNvSpPr/>
          <p:nvPr/>
        </p:nvSpPr>
        <p:spPr>
          <a:xfrm>
            <a:off x="3063240" y="53949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536DFE"/>
                </a:solidFill>
              </a:rPr>
              <a:t>Спасибо за внимание!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939</Words>
  <Application>Microsoft Office PowerPoint</Application>
  <PresentationFormat>Широкоэкранный</PresentationFormat>
  <Paragraphs>218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УлГТУ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Информационная система управления микроскладом</dc:title>
  <dc:subject>Предзащита ВКР</dc:subject>
  <dc:creator>Безбородов Е.Ю.</dc:creator>
  <cp:lastModifiedBy>Egor Bezborodov</cp:lastModifiedBy>
  <cp:revision>7</cp:revision>
  <dcterms:created xsi:type="dcterms:W3CDTF">2026-06-04T21:53:15Z</dcterms:created>
  <dcterms:modified xsi:type="dcterms:W3CDTF">2026-06-04T23:54:10Z</dcterms:modified>
</cp:coreProperties>
</file>